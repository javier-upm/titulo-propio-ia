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0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0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8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2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638C7-7669-4575-AB5F-913E6E1525B8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9378C-AE02-41EA-BC06-4C159C499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828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49843-6B2B-4E0D-910F-5085CE8D832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47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940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945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6023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594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35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626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8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08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317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333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859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5DAFF-34B3-43B3-B9B8-21050C111549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0B77F-F823-4C58-837E-3D501C2766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87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conda.io/en/latest/miniconda.html" TargetMode="Externa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conda.io/en/latest/miniconda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en/latest/miniconda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en/latest/miniconda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onda.io/en/latest/miniconda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671" y="133632"/>
            <a:ext cx="5512777" cy="7935960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4879731" y="5433646"/>
            <a:ext cx="7312269" cy="332182"/>
          </a:xfrm>
        </p:spPr>
        <p:txBody>
          <a:bodyPr>
            <a:noAutofit/>
          </a:bodyPr>
          <a:lstStyle/>
          <a:p>
            <a:pPr algn="r"/>
            <a:r>
              <a:rPr lang="es-ES" sz="4400" dirty="0" smtClean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Instalación</a:t>
            </a:r>
            <a:br>
              <a:rPr lang="es-ES" sz="4400" dirty="0" smtClean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4400" dirty="0" smtClean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Herramientas</a:t>
            </a:r>
            <a:endParaRPr lang="es-ES" sz="44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2" descr="Logo Universidad">
            <a:extLst>
              <a:ext uri="{FF2B5EF4-FFF2-40B4-BE49-F238E27FC236}">
                <a16:creationId xmlns:a16="http://schemas.microsoft.com/office/drawing/2014/main" id="{0C609CEC-6DD5-9E0C-C810-A5D7EEA68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51"/>
          <a:stretch/>
        </p:blipFill>
        <p:spPr bwMode="auto">
          <a:xfrm>
            <a:off x="-2869" y="67098"/>
            <a:ext cx="1416034" cy="129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61C618-908E-93DF-3210-2680AC80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3" t="1221" r="4089" b="-1221"/>
          <a:stretch/>
        </p:blipFill>
        <p:spPr>
          <a:xfrm>
            <a:off x="10174778" y="17581"/>
            <a:ext cx="2013142" cy="143991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03159C5-04BB-EF55-0A5F-C7AD4AB8115C}"/>
              </a:ext>
            </a:extLst>
          </p:cNvPr>
          <p:cNvSpPr txBox="1"/>
          <p:nvPr/>
        </p:nvSpPr>
        <p:spPr>
          <a:xfrm>
            <a:off x="1335578" y="174449"/>
            <a:ext cx="8667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dirty="0">
                <a:solidFill>
                  <a:schemeClr val="tx2"/>
                </a:solidFill>
              </a:rPr>
              <a:t>Inteligencia Artificial para la </a:t>
            </a:r>
          </a:p>
          <a:p>
            <a:pPr algn="r"/>
            <a:r>
              <a:rPr lang="es-ES" sz="3600" dirty="0">
                <a:solidFill>
                  <a:schemeClr val="tx2"/>
                </a:solidFill>
              </a:rPr>
              <a:t>Ingeniería Aeroespacial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-4080" y="14315"/>
            <a:ext cx="12192000" cy="1345223"/>
          </a:xfrm>
          <a:prstGeom prst="rect">
            <a:avLst/>
          </a:prstGeom>
          <a:solidFill>
            <a:schemeClr val="accent1">
              <a:lumMod val="40000"/>
              <a:lumOff val="6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89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638E318-BE2F-4DF9-B080-D7D9FCAF60FC}"/>
              </a:ext>
            </a:extLst>
          </p:cNvPr>
          <p:cNvSpPr/>
          <p:nvPr/>
        </p:nvSpPr>
        <p:spPr>
          <a:xfrm>
            <a:off x="0" y="-12242"/>
            <a:ext cx="635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(IDE*) Visual Studio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Code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con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Miniconda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48A983-D390-40BF-BEF5-47CF4193E2F1}"/>
              </a:ext>
            </a:extLst>
          </p:cNvPr>
          <p:cNvSpPr/>
          <p:nvPr/>
        </p:nvSpPr>
        <p:spPr>
          <a:xfrm>
            <a:off x="127041" y="2461591"/>
            <a:ext cx="11746741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es una distribución ligera y de código abierto (open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source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) de Python.</a:t>
            </a:r>
            <a:br>
              <a:rPr lang="es-E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Su principal ventaja es que permite crear y gestionar entornos virtuales de Python, instalando únicamente los paquetes necesarios, lo que ahorra espacio y mejora el rendimiento.</a:t>
            </a:r>
          </a:p>
          <a:p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Visual Studio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)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es un editor de código multiplataforma, rápido y altamente personalizable, que mediante extensiones se convierte en un entorno de desarrollo completo (IDE) para Python y otros lenguajes.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accent5">
                    <a:lumMod val="50000"/>
                  </a:schemeClr>
                </a:solidFill>
              </a:rPr>
              <a:t>Ventajas de usarlos juntos: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altLang="es-ES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altLang="es-ES" dirty="0">
                <a:solidFill>
                  <a:schemeClr val="accent5">
                    <a:lumMod val="50000"/>
                  </a:schemeClr>
                </a:solidFill>
              </a:rPr>
              <a:t> gestiona entornos y dependencias de forma ordenada.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accent5">
                    <a:lumMod val="50000"/>
                  </a:schemeClr>
                </a:solidFill>
              </a:rPr>
              <a:t>VS </a:t>
            </a:r>
            <a:r>
              <a:rPr lang="es-ES" altLang="es-ES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altLang="es-ES" dirty="0">
                <a:solidFill>
                  <a:schemeClr val="accent5">
                    <a:lumMod val="50000"/>
                  </a:schemeClr>
                </a:solidFill>
              </a:rPr>
              <a:t> ofrece un entorno de edición, depuración y control de versiones moderno.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altLang="es-ES" dirty="0">
                <a:solidFill>
                  <a:schemeClr val="accent5">
                    <a:lumMod val="50000"/>
                  </a:schemeClr>
                </a:solidFill>
              </a:rPr>
              <a:t>Configuración flexible para diferentes proyectos y lenguajes.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ES" alt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b="1" dirty="0">
                <a:solidFill>
                  <a:schemeClr val="accent5">
                    <a:lumMod val="50000"/>
                  </a:schemeClr>
                </a:solidFill>
              </a:rPr>
              <a:t>En este curso usaremos </a:t>
            </a:r>
            <a:r>
              <a:rPr lang="es-ES" altLang="es-ES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altLang="es-ES" b="1" dirty="0">
                <a:solidFill>
                  <a:schemeClr val="accent5">
                    <a:lumMod val="50000"/>
                  </a:schemeClr>
                </a:solidFill>
              </a:rPr>
              <a:t> para gestionar Python y librerías, y VS </a:t>
            </a:r>
            <a:r>
              <a:rPr lang="es-ES" altLang="es-ES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altLang="es-ES" b="1" dirty="0">
                <a:solidFill>
                  <a:schemeClr val="accent5">
                    <a:lumMod val="50000"/>
                  </a:schemeClr>
                </a:solidFill>
              </a:rPr>
              <a:t> como editor/IDE para escribir y ejecutar nuestro código.</a:t>
            </a:r>
          </a:p>
          <a:p>
            <a:endParaRPr lang="es-E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1DB06C10-9A02-726E-3438-36D0FAE32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4" b="29320"/>
          <a:stretch>
            <a:fillRect/>
          </a:stretch>
        </p:blipFill>
        <p:spPr>
          <a:xfrm>
            <a:off x="2192237" y="449423"/>
            <a:ext cx="7648971" cy="22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CEDE-B0BB-5813-D92D-296692CC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504239E-3BA5-79DE-C5B5-54E1B9CD000A}"/>
              </a:ext>
            </a:extLst>
          </p:cNvPr>
          <p:cNvSpPr/>
          <p:nvPr/>
        </p:nvSpPr>
        <p:spPr>
          <a:xfrm>
            <a:off x="0" y="-12242"/>
            <a:ext cx="635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(IDE*) Visual Studio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Code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con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Miniconda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BD148D54-077C-C397-36F4-FFD498DDB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4" b="29320"/>
          <a:stretch>
            <a:fillRect/>
          </a:stretch>
        </p:blipFill>
        <p:spPr>
          <a:xfrm>
            <a:off x="991087" y="1290485"/>
            <a:ext cx="10080777" cy="2902376"/>
          </a:xfrm>
          <a:prstGeom prst="rect">
            <a:avLst/>
          </a:prstGeom>
        </p:spPr>
      </p:pic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C5A8B687-91E7-4DA4-7A66-D61121E6DE0F}"/>
              </a:ext>
            </a:extLst>
          </p:cNvPr>
          <p:cNvSpPr/>
          <p:nvPr/>
        </p:nvSpPr>
        <p:spPr>
          <a:xfrm rot="12998473">
            <a:off x="1823308" y="270251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B229066-F962-6161-B061-E8D397B1CC87}"/>
              </a:ext>
            </a:extLst>
          </p:cNvPr>
          <p:cNvSpPr/>
          <p:nvPr/>
        </p:nvSpPr>
        <p:spPr>
          <a:xfrm>
            <a:off x="935781" y="3743035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610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D899-5780-C772-894D-BBDC8012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D9B4402-ADAA-58CB-9FBE-AD002592B024}"/>
              </a:ext>
            </a:extLst>
          </p:cNvPr>
          <p:cNvSpPr/>
          <p:nvPr/>
        </p:nvSpPr>
        <p:spPr>
          <a:xfrm>
            <a:off x="150594" y="221554"/>
            <a:ext cx="117467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Ir a la página oficial: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https://docs.conda.io/en/latest/miniconda.html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CD457001-AB96-5DC9-A43F-EB994DB4D893}"/>
              </a:ext>
            </a:extLst>
          </p:cNvPr>
          <p:cNvSpPr/>
          <p:nvPr/>
        </p:nvSpPr>
        <p:spPr>
          <a:xfrm>
            <a:off x="9551601" y="5447607"/>
            <a:ext cx="346086" cy="9782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FE5565F-267C-1097-CD5C-4F9639EB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604" y="1386695"/>
            <a:ext cx="9570720" cy="50391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09A2D50-DAC3-6252-39CA-07DF3702B8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574768">
            <a:off x="8945993" y="1589456"/>
            <a:ext cx="2268382" cy="226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5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C3F3-B4A0-762D-2DAC-D315C0CA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DEB49E8-F1DD-A099-A5BF-F8E50D225FE4}"/>
              </a:ext>
            </a:extLst>
          </p:cNvPr>
          <p:cNvSpPr/>
          <p:nvPr/>
        </p:nvSpPr>
        <p:spPr>
          <a:xfrm>
            <a:off x="150594" y="221554"/>
            <a:ext cx="117467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Ir a la página oficial: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https://docs.conda.io/en/latest/miniconda.html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Elegir la versión correcta para tu sistema operativo (Windows, macOS o Linux) y arquitectura (64-bit la mayoría de los casos).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356C50-0F0F-C371-EA61-601D91F59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849" y="2006138"/>
            <a:ext cx="6798380" cy="4419714"/>
          </a:xfrm>
          <a:prstGeom prst="rect">
            <a:avLst/>
          </a:prstGeom>
        </p:spPr>
      </p:pic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15DD5EC4-42CE-2A6C-6BDB-9881BB0B6966}"/>
              </a:ext>
            </a:extLst>
          </p:cNvPr>
          <p:cNvSpPr/>
          <p:nvPr/>
        </p:nvSpPr>
        <p:spPr>
          <a:xfrm>
            <a:off x="9551601" y="5447607"/>
            <a:ext cx="346086" cy="9782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93883C-8316-9DC2-D293-4778A7D2F2CE}"/>
              </a:ext>
            </a:extLst>
          </p:cNvPr>
          <p:cNvSpPr txBox="1"/>
          <p:nvPr/>
        </p:nvSpPr>
        <p:spPr>
          <a:xfrm>
            <a:off x="9046229" y="4801276"/>
            <a:ext cx="142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Scroll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hasta abajo</a:t>
            </a:r>
          </a:p>
        </p:txBody>
      </p:sp>
    </p:spTree>
    <p:extLst>
      <p:ext uri="{BB962C8B-B14F-4D97-AF65-F5344CB8AC3E}">
        <p14:creationId xmlns:p14="http://schemas.microsoft.com/office/powerpoint/2010/main" val="372029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4997-F2EE-E806-D0D1-53D26E02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7BB6C0C-4DD7-D835-0245-88A06E5F5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313" y="2006138"/>
            <a:ext cx="6775779" cy="441971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150CD2C-787C-CFAA-7BC5-D29AF1162BFC}"/>
              </a:ext>
            </a:extLst>
          </p:cNvPr>
          <p:cNvSpPr/>
          <p:nvPr/>
        </p:nvSpPr>
        <p:spPr>
          <a:xfrm>
            <a:off x="150594" y="221554"/>
            <a:ext cx="117467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Ir a la página oficial: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https://docs.conda.io/en/latest/miniconda.html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Elegir la versión correcta para tu sistema operativo (Windows, macOS o Linux) y arquitectura (64-bit la mayoría de los casos).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99DF84FD-CF61-2EC9-91F4-EA13689D845C}"/>
              </a:ext>
            </a:extLst>
          </p:cNvPr>
          <p:cNvSpPr/>
          <p:nvPr/>
        </p:nvSpPr>
        <p:spPr>
          <a:xfrm>
            <a:off x="9551601" y="5447607"/>
            <a:ext cx="346086" cy="9782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593423-F6C2-355A-653A-5A676E68AC27}"/>
              </a:ext>
            </a:extLst>
          </p:cNvPr>
          <p:cNvSpPr txBox="1"/>
          <p:nvPr/>
        </p:nvSpPr>
        <p:spPr>
          <a:xfrm>
            <a:off x="9046229" y="4801276"/>
            <a:ext cx="142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Scroll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hasta abajo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9189F1-EF76-C717-DE26-FC43C99E66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157" t="15207" r="27748" b="16436"/>
          <a:stretch>
            <a:fillRect/>
          </a:stretch>
        </p:blipFill>
        <p:spPr>
          <a:xfrm rot="20574768">
            <a:off x="5306554" y="5779597"/>
            <a:ext cx="660014" cy="112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0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D926-8B90-FD23-C11A-6DD9E221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A2DE9B3-9D28-9D6C-A887-BE53C1E2A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312" y="2006138"/>
            <a:ext cx="6724171" cy="435837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11957EB-6C20-24BF-0AD4-DADD067188EA}"/>
              </a:ext>
            </a:extLst>
          </p:cNvPr>
          <p:cNvSpPr/>
          <p:nvPr/>
        </p:nvSpPr>
        <p:spPr>
          <a:xfrm>
            <a:off x="150594" y="221554"/>
            <a:ext cx="117467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Ir a la página oficial: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https://docs.conda.io/en/latest/miniconda.html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Elegir la versión correcta para tu sistema operativo (Windows, macOS o Linux) y arquitectura (64-bit la mayoría de los casos).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B885D9-959E-E006-68A4-0EC6ECBC44A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157" t="15207" r="27748" b="16436"/>
          <a:stretch>
            <a:fillRect/>
          </a:stretch>
        </p:blipFill>
        <p:spPr>
          <a:xfrm rot="20574768">
            <a:off x="6806807" y="5167148"/>
            <a:ext cx="660014" cy="1125236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96D3A5F-06D3-1A6A-8516-4E6679588C22}"/>
              </a:ext>
            </a:extLst>
          </p:cNvPr>
          <p:cNvSpPr/>
          <p:nvPr/>
        </p:nvSpPr>
        <p:spPr>
          <a:xfrm>
            <a:off x="7670683" y="4555288"/>
            <a:ext cx="1879600" cy="899886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Escoge sistema operativo</a:t>
            </a:r>
          </a:p>
        </p:txBody>
      </p:sp>
    </p:spTree>
    <p:extLst>
      <p:ext uri="{BB962C8B-B14F-4D97-AF65-F5344CB8AC3E}">
        <p14:creationId xmlns:p14="http://schemas.microsoft.com/office/powerpoint/2010/main" val="53288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A7CCC-89E0-809C-1294-8036A3D1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37D7D62-C75E-3737-2565-32525D44B024}"/>
              </a:ext>
            </a:extLst>
          </p:cNvPr>
          <p:cNvSpPr/>
          <p:nvPr/>
        </p:nvSpPr>
        <p:spPr>
          <a:xfrm>
            <a:off x="150594" y="221554"/>
            <a:ext cx="117467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Ejecutar el instalador:</a:t>
            </a:r>
          </a:p>
          <a:p>
            <a:pPr marL="914400" lvl="3"/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En Windows: doble clic sobre el .exe.</a:t>
            </a:r>
          </a:p>
          <a:p>
            <a:pPr marL="914400" lvl="3"/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En macOS/Linux: abrir terminal y ejecutar el instalador (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bash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Miniconda3-latest-...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sh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17B9CF9-91A5-C7BB-D1C9-2686A198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99" y="2085653"/>
            <a:ext cx="4728675" cy="369719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0B70196-EBA5-869D-7936-A419D792C2A9}"/>
              </a:ext>
            </a:extLst>
          </p:cNvPr>
          <p:cNvSpPr txBox="1"/>
          <p:nvPr/>
        </p:nvSpPr>
        <p:spPr>
          <a:xfrm>
            <a:off x="5565058" y="2572349"/>
            <a:ext cx="6388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Configurar la instalación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Aceptar la licencia.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Elegir carpeta de instalación (recomendado dejar la predeterminada).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5">
                    <a:lumMod val="50000"/>
                  </a:schemeClr>
                </a:solidFill>
              </a:rPr>
              <a:t>La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opción "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Add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to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my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PATH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"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</a:rPr>
              <a:t>se recomienda si no existen instalaciones previas de Python.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052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B7799-3F6D-2F5B-93BF-6FAC96F5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835909-5856-3CF0-0F44-60729234633E}"/>
              </a:ext>
            </a:extLst>
          </p:cNvPr>
          <p:cNvSpPr/>
          <p:nvPr/>
        </p:nvSpPr>
        <p:spPr>
          <a:xfrm>
            <a:off x="150594" y="221554"/>
            <a:ext cx="1174674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Finalizar e iniciar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Abrir Anaconda Prompt (Windows) o Terminal (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macOS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/Linux).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4F95B70-E95F-0CF9-F438-1B76F2A8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1" t="2996" r="6802" b="2293"/>
          <a:stretch>
            <a:fillRect/>
          </a:stretch>
        </p:blipFill>
        <p:spPr>
          <a:xfrm>
            <a:off x="1408469" y="1799303"/>
            <a:ext cx="4889091" cy="472653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C2E7499-8C45-F1B4-F873-3DE9A1825516}"/>
              </a:ext>
            </a:extLst>
          </p:cNvPr>
          <p:cNvSpPr/>
          <p:nvPr/>
        </p:nvSpPr>
        <p:spPr>
          <a:xfrm>
            <a:off x="6527682" y="2084933"/>
            <a:ext cx="4064119" cy="899886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Al empezar a escribir “Anaconda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Prompt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” en el Menú de Inicio os debe aparecer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107387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FF32-7BD1-8CC9-A168-32623FE8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F5184A9-8C10-D5CC-BABC-D58B6AD23BB0}"/>
              </a:ext>
            </a:extLst>
          </p:cNvPr>
          <p:cNvSpPr/>
          <p:nvPr/>
        </p:nvSpPr>
        <p:spPr>
          <a:xfrm>
            <a:off x="150594" y="221554"/>
            <a:ext cx="117467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Finalizar e iniciar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Abrir Anaconda Prompt (Windows) o Terminal (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macOS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/Linux).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Verificar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instalación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pidiendo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ver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versión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instalada de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python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en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el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“prompt”.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4F28F0-F6AE-97A8-39EC-C0421A21E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54" b="86937"/>
          <a:stretch>
            <a:fillRect/>
          </a:stretch>
        </p:blipFill>
        <p:spPr>
          <a:xfrm>
            <a:off x="1843549" y="1890327"/>
            <a:ext cx="6186948" cy="4694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6422A09-1AD1-4A7F-C240-225B1600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82" r="49254" b="19559"/>
          <a:stretch>
            <a:fillRect/>
          </a:stretch>
        </p:blipFill>
        <p:spPr>
          <a:xfrm>
            <a:off x="1843549" y="2359743"/>
            <a:ext cx="6186948" cy="12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6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A52E-EF93-C11E-79FA-2CD176F3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308FD4D-FA3C-781E-1499-0712568936A4}"/>
              </a:ext>
            </a:extLst>
          </p:cNvPr>
          <p:cNvSpPr/>
          <p:nvPr/>
        </p:nvSpPr>
        <p:spPr>
          <a:xfrm>
            <a:off x="150594" y="221554"/>
            <a:ext cx="1174674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Finalizar e iniciar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Abrir Anaconda Prompt (Windows) o Terminal (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macOS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/Linux).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Verificar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instalación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pidiendo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ver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versión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instalada de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python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en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el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“prompt”.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De forma opcional podemos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actualizar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versión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de conda a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más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reciente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7446C8-F3AF-D558-3046-FBB24ED77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54" b="86937"/>
          <a:stretch>
            <a:fillRect/>
          </a:stretch>
        </p:blipFill>
        <p:spPr>
          <a:xfrm>
            <a:off x="1843549" y="1890327"/>
            <a:ext cx="6186948" cy="4694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F8D85E-824B-7E0C-60F3-F4F5EADA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82" r="49254" b="19559"/>
          <a:stretch>
            <a:fillRect/>
          </a:stretch>
        </p:blipFill>
        <p:spPr>
          <a:xfrm>
            <a:off x="1843549" y="2359743"/>
            <a:ext cx="6186948" cy="12167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195AFC7-D3A9-4572-1947-02105A41A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54" b="86937"/>
          <a:stretch>
            <a:fillRect/>
          </a:stretch>
        </p:blipFill>
        <p:spPr>
          <a:xfrm>
            <a:off x="1843549" y="4374055"/>
            <a:ext cx="6186948" cy="4694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A8721DD-03DC-C9FC-55E4-23474446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82" r="49254"/>
          <a:stretch>
            <a:fillRect/>
          </a:stretch>
        </p:blipFill>
        <p:spPr>
          <a:xfrm>
            <a:off x="1843549" y="4843471"/>
            <a:ext cx="6186948" cy="19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A52E-EF93-C11E-79FA-2CD176F3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308FD4D-FA3C-781E-1499-0712568936A4}"/>
              </a:ext>
            </a:extLst>
          </p:cNvPr>
          <p:cNvSpPr/>
          <p:nvPr/>
        </p:nvSpPr>
        <p:spPr>
          <a:xfrm>
            <a:off x="150594" y="221554"/>
            <a:ext cx="11746741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1.- Instalación de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En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caso de no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haber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marcado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Add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Miniconda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to </a:t>
            </a:r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my</a:t>
            </a:r>
            <a:r>
              <a:rPr lang="es-E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b="1" dirty="0" smtClean="0">
                <a:solidFill>
                  <a:schemeClr val="accent5">
                    <a:lumMod val="50000"/>
                  </a:schemeClr>
                </a:solidFill>
              </a:rPr>
              <a:t>PATH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</a:rPr>
              <a:t>” 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es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necesario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inicializar Conda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en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las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terminales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que usará Visual Studio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Para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ello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desde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el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Anaconda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Prompt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escribe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pt-BR" dirty="0">
              <a:solidFill>
                <a:schemeClr val="accent5">
                  <a:lumMod val="5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Eso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significa que, a partir de </a:t>
            </a:r>
            <a:r>
              <a:rPr lang="pt-BR" dirty="0" err="1" smtClean="0">
                <a:solidFill>
                  <a:schemeClr val="accent5">
                    <a:lumMod val="50000"/>
                  </a:schemeClr>
                </a:solidFill>
              </a:rPr>
              <a:t>ahora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cada vez que abras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PowerShell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, CMD o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la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terminal integrada de VS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, Conda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ya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estará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disponible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automáticamente</a:t>
            </a:r>
            <a:r>
              <a:rPr lang="pt-BR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pt-BR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549" y="2609125"/>
            <a:ext cx="3667125" cy="485775"/>
          </a:xfrm>
          <a:prstGeom prst="rect">
            <a:avLst/>
          </a:prstGeom>
        </p:spPr>
      </p:pic>
      <p:grpSp>
        <p:nvGrpSpPr>
          <p:cNvPr id="11" name="Grupo 10"/>
          <p:cNvGrpSpPr/>
          <p:nvPr/>
        </p:nvGrpSpPr>
        <p:grpSpPr>
          <a:xfrm>
            <a:off x="1843549" y="2139709"/>
            <a:ext cx="6186948" cy="1183791"/>
            <a:chOff x="1843549" y="2139709"/>
            <a:chExt cx="6186948" cy="1183791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457446C8-F3AF-D558-3046-FBB24ED77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9254" b="86937"/>
            <a:stretch>
              <a:fillRect/>
            </a:stretch>
          </p:blipFill>
          <p:spPr>
            <a:xfrm>
              <a:off x="1843549" y="2139709"/>
              <a:ext cx="6186948" cy="469416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4"/>
            <a:srcRect l="1931" r="10914"/>
            <a:stretch/>
          </p:blipFill>
          <p:spPr>
            <a:xfrm>
              <a:off x="1845424" y="2609125"/>
              <a:ext cx="6184671" cy="714375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/>
          <a:srcRect l="2755" r="14213"/>
          <a:stretch/>
        </p:blipFill>
        <p:spPr>
          <a:xfrm>
            <a:off x="1845425" y="2966312"/>
            <a:ext cx="618467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4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197E-51FC-6924-90F2-C5EE3845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FEFB772-ABFE-4563-BA16-06C1B33588C5}"/>
              </a:ext>
            </a:extLst>
          </p:cNvPr>
          <p:cNvSpPr/>
          <p:nvPr/>
        </p:nvSpPr>
        <p:spPr>
          <a:xfrm>
            <a:off x="3487605" y="233211"/>
            <a:ext cx="5216789" cy="901027"/>
          </a:xfrm>
          <a:prstGeom prst="roundRect">
            <a:avLst>
              <a:gd name="adj" fmla="val 1242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s-ES" b="1" dirty="0" smtClean="0">
                <a:solidFill>
                  <a:srgbClr val="002060"/>
                </a:solidFill>
              </a:rPr>
              <a:t>Descarga </a:t>
            </a:r>
            <a:r>
              <a:rPr lang="es-ES" b="1" dirty="0" err="1" smtClean="0">
                <a:solidFill>
                  <a:srgbClr val="002060"/>
                </a:solidFill>
              </a:rPr>
              <a:t>Miniconda.</a:t>
            </a:r>
            <a:r>
              <a:rPr lang="es-ES" dirty="0" err="1" smtClean="0"/>
              <a:t>Ir</a:t>
            </a:r>
            <a:r>
              <a:rPr lang="es-ES" dirty="0" smtClean="0"/>
              <a:t> </a:t>
            </a:r>
            <a:r>
              <a:rPr lang="es-ES" dirty="0"/>
              <a:t>a:</a:t>
            </a:r>
            <a:br>
              <a:rPr lang="es-ES" dirty="0"/>
            </a:br>
            <a:r>
              <a:rPr lang="es-ES" b="1" dirty="0">
                <a:hlinkClick r:id="rId2"/>
              </a:rPr>
              <a:t>https://</a:t>
            </a:r>
            <a:r>
              <a:rPr lang="es-ES" b="1" dirty="0" smtClean="0">
                <a:hlinkClick r:id="rId2"/>
              </a:rPr>
              <a:t>docs.conda.io/en/latest/miniconda.html</a:t>
            </a:r>
            <a:endParaRPr lang="es-ES" dirty="0"/>
          </a:p>
        </p:txBody>
      </p:sp>
      <p:grpSp>
        <p:nvGrpSpPr>
          <p:cNvPr id="12" name="Grupo 11"/>
          <p:cNvGrpSpPr/>
          <p:nvPr/>
        </p:nvGrpSpPr>
        <p:grpSpPr>
          <a:xfrm>
            <a:off x="3848098" y="1401413"/>
            <a:ext cx="4495803" cy="1582712"/>
            <a:chOff x="4978398" y="254000"/>
            <a:chExt cx="4495803" cy="2209801"/>
          </a:xfrm>
        </p:grpSpPr>
        <p:sp>
          <p:nvSpPr>
            <p:cNvPr id="6" name="Rectángulo: esquinas redondeadas 7">
              <a:extLst>
                <a:ext uri="{FF2B5EF4-FFF2-40B4-BE49-F238E27FC236}">
                  <a16:creationId xmlns:a16="http://schemas.microsoft.com/office/drawing/2014/main" id="{8FEFB772-ABFE-4563-BA16-06C1B33588C5}"/>
                </a:ext>
              </a:extLst>
            </p:cNvPr>
            <p:cNvSpPr/>
            <p:nvPr/>
          </p:nvSpPr>
          <p:spPr>
            <a:xfrm>
              <a:off x="4978399" y="254000"/>
              <a:ext cx="4495802" cy="2209800"/>
            </a:xfrm>
            <a:prstGeom prst="roundRect">
              <a:avLst>
                <a:gd name="adj" fmla="val 12427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b="1" dirty="0" smtClean="0">
                  <a:solidFill>
                    <a:srgbClr val="002060"/>
                  </a:solidFill>
                </a:rPr>
                <a:t>2. Ejecuta el instalador.</a:t>
              </a:r>
            </a:p>
            <a:p>
              <a:pPr algn="ctr"/>
              <a:r>
                <a:rPr lang="es-ES" dirty="0"/>
                <a:t>Ir a:</a:t>
              </a:r>
              <a:br>
                <a:rPr lang="es-ES" dirty="0"/>
              </a:br>
              <a:endParaRPr lang="es-ES" dirty="0"/>
            </a:p>
          </p:txBody>
        </p:sp>
        <p:sp>
          <p:nvSpPr>
            <p:cNvPr id="3" name="Rectángulo redondeado 2"/>
            <p:cNvSpPr/>
            <p:nvPr/>
          </p:nvSpPr>
          <p:spPr>
            <a:xfrm>
              <a:off x="4978398" y="926625"/>
              <a:ext cx="4495803" cy="49577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b="1" dirty="0" smtClean="0">
                  <a:solidFill>
                    <a:srgbClr val="002060"/>
                  </a:solidFill>
                </a:rPr>
                <a:t>Windows:</a:t>
              </a:r>
              <a:r>
                <a:rPr lang="es-ES" dirty="0" smtClean="0">
                  <a:solidFill>
                    <a:srgbClr val="002060"/>
                  </a:solidFill>
                </a:rPr>
                <a:t> doble clic en el archivo .</a:t>
              </a:r>
              <a:r>
                <a:rPr lang="es-ES" dirty="0" err="1" smtClean="0">
                  <a:solidFill>
                    <a:srgbClr val="002060"/>
                  </a:solidFill>
                </a:rPr>
                <a:t>exe</a:t>
              </a:r>
              <a:endParaRPr lang="es-ES" dirty="0">
                <a:solidFill>
                  <a:srgbClr val="002060"/>
                </a:solidFill>
              </a:endParaRPr>
            </a:p>
          </p:txBody>
        </p:sp>
        <p:sp>
          <p:nvSpPr>
            <p:cNvPr id="11" name="Rectángulo redondeado 10"/>
            <p:cNvSpPr/>
            <p:nvPr/>
          </p:nvSpPr>
          <p:spPr>
            <a:xfrm>
              <a:off x="4978398" y="1422402"/>
              <a:ext cx="4495803" cy="10413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b="1" dirty="0" err="1">
                  <a:solidFill>
                    <a:srgbClr val="002060"/>
                  </a:solidFill>
                </a:rPr>
                <a:t>MacOs</a:t>
              </a:r>
              <a:r>
                <a:rPr lang="es-ES" b="1" dirty="0">
                  <a:solidFill>
                    <a:srgbClr val="002060"/>
                  </a:solidFill>
                </a:rPr>
                <a:t>/Linux</a:t>
              </a:r>
              <a:r>
                <a:rPr lang="es-ES" dirty="0">
                  <a:solidFill>
                    <a:srgbClr val="002060"/>
                  </a:solidFill>
                </a:rPr>
                <a:t>: ejecutar en </a:t>
              </a:r>
              <a:r>
                <a:rPr lang="es-ES" dirty="0" smtClean="0">
                  <a:solidFill>
                    <a:srgbClr val="002060"/>
                  </a:solidFill>
                </a:rPr>
                <a:t>terminal:</a:t>
              </a:r>
              <a:endParaRPr lang="es-ES" dirty="0">
                <a:solidFill>
                  <a:srgbClr val="002060"/>
                </a:solidFill>
              </a:endParaRPr>
            </a:p>
            <a:p>
              <a:pPr lvl="1"/>
              <a:r>
                <a:rPr lang="es-ES" dirty="0" err="1">
                  <a:solidFill>
                    <a:srgbClr val="002060"/>
                  </a:solidFill>
                  <a:latin typeface="Consolas" panose="020B0609020204030204" pitchFamily="49" charset="0"/>
                </a:rPr>
                <a:t>bash</a:t>
              </a:r>
              <a:r>
                <a:rPr lang="es-ES" dirty="0">
                  <a:solidFill>
                    <a:srgbClr val="002060"/>
                  </a:solidFill>
                  <a:latin typeface="Consolas" panose="020B0609020204030204" pitchFamily="49" charset="0"/>
                </a:rPr>
                <a:t> Miniconda3-latest-*.sh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3848098" y="3260824"/>
            <a:ext cx="5181601" cy="1727101"/>
            <a:chOff x="4978398" y="254000"/>
            <a:chExt cx="5181601" cy="2209800"/>
          </a:xfrm>
        </p:grpSpPr>
        <p:sp>
          <p:nvSpPr>
            <p:cNvPr id="14" name="Rectángulo: esquinas redondeadas 7">
              <a:extLst>
                <a:ext uri="{FF2B5EF4-FFF2-40B4-BE49-F238E27FC236}">
                  <a16:creationId xmlns:a16="http://schemas.microsoft.com/office/drawing/2014/main" id="{8FEFB772-ABFE-4563-BA16-06C1B33588C5}"/>
                </a:ext>
              </a:extLst>
            </p:cNvPr>
            <p:cNvSpPr/>
            <p:nvPr/>
          </p:nvSpPr>
          <p:spPr>
            <a:xfrm>
              <a:off x="4978399" y="254000"/>
              <a:ext cx="4495802" cy="2209800"/>
            </a:xfrm>
            <a:prstGeom prst="roundRect">
              <a:avLst>
                <a:gd name="adj" fmla="val 12427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b="1" dirty="0" smtClean="0">
                  <a:solidFill>
                    <a:srgbClr val="002060"/>
                  </a:solidFill>
                </a:rPr>
                <a:t>3.  Configurar la instalación</a:t>
              </a:r>
            </a:p>
            <a:p>
              <a:pPr algn="ctr"/>
              <a:r>
                <a:rPr lang="es-ES" dirty="0"/>
                <a:t>Ir a:</a:t>
              </a:r>
              <a:br>
                <a:rPr lang="es-ES" dirty="0"/>
              </a:br>
              <a:endParaRPr lang="es-ES" dirty="0"/>
            </a:p>
          </p:txBody>
        </p:sp>
        <p:sp>
          <p:nvSpPr>
            <p:cNvPr id="16" name="Rectángulo redondeado 15"/>
            <p:cNvSpPr/>
            <p:nvPr/>
          </p:nvSpPr>
          <p:spPr>
            <a:xfrm>
              <a:off x="4978398" y="966928"/>
              <a:ext cx="5181601" cy="10413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dirty="0" smtClean="0">
                  <a:solidFill>
                    <a:srgbClr val="002060"/>
                  </a:solidFill>
                  <a:latin typeface="+mj-lt"/>
                </a:rPr>
                <a:t>Aceptar licencia.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dirty="0" smtClean="0">
                  <a:solidFill>
                    <a:srgbClr val="002060"/>
                  </a:solidFill>
                  <a:latin typeface="+mj-lt"/>
                </a:rPr>
                <a:t>Carpeta por defecto (recomendado)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dirty="0" smtClean="0">
                  <a:solidFill>
                    <a:srgbClr val="002060"/>
                  </a:solidFill>
                  <a:latin typeface="+mj-lt"/>
                </a:rPr>
                <a:t>Windows: </a:t>
              </a:r>
              <a:r>
                <a:rPr lang="es-ES" dirty="0" err="1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Add</a:t>
              </a:r>
              <a:r>
                <a:rPr lang="es-ES" dirty="0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 </a:t>
              </a:r>
              <a:r>
                <a:rPr lang="es-ES" dirty="0" err="1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Miniconda</a:t>
              </a:r>
              <a:r>
                <a:rPr lang="es-ES" dirty="0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 to PATH</a:t>
              </a:r>
              <a:endParaRPr lang="es-ES" dirty="0">
                <a:solidFill>
                  <a:srgbClr val="00206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7" name="Rectángulo 16"/>
          <p:cNvSpPr/>
          <p:nvPr/>
        </p:nvSpPr>
        <p:spPr>
          <a:xfrm>
            <a:off x="8508999" y="3818023"/>
            <a:ext cx="35687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2060"/>
                </a:solidFill>
                <a:latin typeface="+mj-lt"/>
              </a:rPr>
              <a:t>Recomendado para este curso: evita errores posteriores y facilita el uso desde terminal y VS </a:t>
            </a:r>
            <a:r>
              <a:rPr lang="es-ES" dirty="0" err="1">
                <a:solidFill>
                  <a:srgbClr val="002060"/>
                </a:solidFill>
                <a:latin typeface="+mj-lt"/>
              </a:rPr>
              <a:t>Code</a:t>
            </a:r>
            <a:r>
              <a:rPr lang="es-ES" dirty="0">
                <a:solidFill>
                  <a:srgbClr val="002060"/>
                </a:solidFill>
                <a:latin typeface="+mj-lt"/>
              </a:rPr>
              <a:t>.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3848097" y="5196398"/>
            <a:ext cx="5181601" cy="1253444"/>
            <a:chOff x="4978398" y="254000"/>
            <a:chExt cx="5181601" cy="2209800"/>
          </a:xfrm>
        </p:grpSpPr>
        <p:sp>
          <p:nvSpPr>
            <p:cNvPr id="19" name="Rectángulo: esquinas redondeadas 7">
              <a:extLst>
                <a:ext uri="{FF2B5EF4-FFF2-40B4-BE49-F238E27FC236}">
                  <a16:creationId xmlns:a16="http://schemas.microsoft.com/office/drawing/2014/main" id="{8FEFB772-ABFE-4563-BA16-06C1B33588C5}"/>
                </a:ext>
              </a:extLst>
            </p:cNvPr>
            <p:cNvSpPr/>
            <p:nvPr/>
          </p:nvSpPr>
          <p:spPr>
            <a:xfrm>
              <a:off x="4978399" y="254000"/>
              <a:ext cx="4495802" cy="2209800"/>
            </a:xfrm>
            <a:prstGeom prst="roundRect">
              <a:avLst>
                <a:gd name="adj" fmla="val 12427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b="1" dirty="0" smtClean="0">
                  <a:solidFill>
                    <a:srgbClr val="002060"/>
                  </a:solidFill>
                </a:rPr>
                <a:t>4. Verificar la instalación</a:t>
              </a:r>
            </a:p>
            <a:p>
              <a:pPr algn="ctr"/>
              <a:r>
                <a:rPr lang="es-ES" dirty="0"/>
                <a:t>Ir a:</a:t>
              </a:r>
              <a:br>
                <a:rPr lang="es-ES" dirty="0"/>
              </a:br>
              <a:endParaRPr lang="es-ES" dirty="0"/>
            </a:p>
          </p:txBody>
        </p:sp>
        <p:sp>
          <p:nvSpPr>
            <p:cNvPr id="20" name="Rectángulo redondeado 19"/>
            <p:cNvSpPr/>
            <p:nvPr/>
          </p:nvSpPr>
          <p:spPr>
            <a:xfrm>
              <a:off x="4978398" y="1148834"/>
              <a:ext cx="5181601" cy="10413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rgbClr val="002060"/>
                  </a:solidFill>
                  <a:latin typeface="+mj-lt"/>
                </a:rPr>
                <a:t>Abrir Anaconda </a:t>
              </a:r>
              <a:r>
                <a:rPr lang="pt-BR" dirty="0" err="1">
                  <a:solidFill>
                    <a:srgbClr val="002060"/>
                  </a:solidFill>
                  <a:latin typeface="+mj-lt"/>
                </a:rPr>
                <a:t>Prompt</a:t>
              </a:r>
              <a:r>
                <a:rPr lang="pt-BR" dirty="0">
                  <a:solidFill>
                    <a:srgbClr val="002060"/>
                  </a:solidFill>
                  <a:latin typeface="+mj-lt"/>
                </a:rPr>
                <a:t> o </a:t>
              </a:r>
              <a:r>
                <a:rPr lang="pt-BR" dirty="0" smtClean="0">
                  <a:solidFill>
                    <a:srgbClr val="002060"/>
                  </a:solidFill>
                  <a:latin typeface="+mj-lt"/>
                </a:rPr>
                <a:t>Terminal.</a:t>
              </a:r>
              <a:endParaRPr lang="es-ES" dirty="0" smtClean="0">
                <a:solidFill>
                  <a:srgbClr val="002060"/>
                </a:solidFill>
                <a:latin typeface="+mj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dirty="0" smtClean="0">
                  <a:solidFill>
                    <a:srgbClr val="002060"/>
                  </a:solidFill>
                  <a:latin typeface="+mj-lt"/>
                </a:rPr>
                <a:t>Ejecutar: </a:t>
              </a:r>
              <a:r>
                <a:rPr lang="es-ES" dirty="0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 </a:t>
              </a:r>
              <a:r>
                <a:rPr lang="es-ES" dirty="0" err="1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conda</a:t>
              </a:r>
              <a:r>
                <a:rPr lang="es-ES" dirty="0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 --</a:t>
              </a:r>
              <a:r>
                <a:rPr lang="es-ES" dirty="0" err="1" smtClean="0">
                  <a:solidFill>
                    <a:srgbClr val="002060"/>
                  </a:solidFill>
                  <a:latin typeface="Consolas" panose="020B0609020204030204" pitchFamily="49" charset="0"/>
                </a:rPr>
                <a:t>version</a:t>
              </a:r>
              <a:endParaRPr lang="es-ES" dirty="0">
                <a:solidFill>
                  <a:srgbClr val="00206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0916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A409-59ED-B26B-945C-C52C47AF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261F2C2-2EF6-CB67-277B-62E98942C52C}"/>
              </a:ext>
            </a:extLst>
          </p:cNvPr>
          <p:cNvSpPr/>
          <p:nvPr/>
        </p:nvSpPr>
        <p:spPr>
          <a:xfrm>
            <a:off x="0" y="-12242"/>
            <a:ext cx="635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(IDE*) Visual Studio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Code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con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Miniconda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F572C4C5-AFDD-4A4E-4192-ECB28510D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4" b="29320"/>
          <a:stretch>
            <a:fillRect/>
          </a:stretch>
        </p:blipFill>
        <p:spPr>
          <a:xfrm>
            <a:off x="991087" y="1290485"/>
            <a:ext cx="10080777" cy="2902376"/>
          </a:xfrm>
          <a:prstGeom prst="rect">
            <a:avLst/>
          </a:prstGeom>
        </p:spPr>
      </p:pic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B89E6A26-1AC3-2592-192B-1D535ABAA4DF}"/>
              </a:ext>
            </a:extLst>
          </p:cNvPr>
          <p:cNvSpPr/>
          <p:nvPr/>
        </p:nvSpPr>
        <p:spPr>
          <a:xfrm rot="12998473">
            <a:off x="1823308" y="270251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C236DCD-DD42-E9EF-6792-E9B7054F8866}"/>
              </a:ext>
            </a:extLst>
          </p:cNvPr>
          <p:cNvSpPr/>
          <p:nvPr/>
        </p:nvSpPr>
        <p:spPr>
          <a:xfrm>
            <a:off x="935781" y="3743035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</a:t>
            </a:r>
          </a:p>
        </p:txBody>
      </p:sp>
      <p:pic>
        <p:nvPicPr>
          <p:cNvPr id="10242" name="Picture 2" descr="Imágenes de Tick Verde - Descarga gratuita en Freepik">
            <a:extLst>
              <a:ext uri="{FF2B5EF4-FFF2-40B4-BE49-F238E27FC236}">
                <a16:creationId xmlns:a16="http://schemas.microsoft.com/office/drawing/2014/main" id="{BD5E4A79-C21B-2987-C98C-F62AFDDB3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935" y="3667275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3A72674E-4A0B-7B3D-6D95-B02398CFDC3F}"/>
              </a:ext>
            </a:extLst>
          </p:cNvPr>
          <p:cNvSpPr/>
          <p:nvPr/>
        </p:nvSpPr>
        <p:spPr>
          <a:xfrm rot="8674936">
            <a:off x="6755095" y="251228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149439B-6C50-F3B6-AF2A-E704C6D59031}"/>
              </a:ext>
            </a:extLst>
          </p:cNvPr>
          <p:cNvSpPr/>
          <p:nvPr/>
        </p:nvSpPr>
        <p:spPr>
          <a:xfrm>
            <a:off x="7312170" y="3609020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311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ADCC3-7582-C945-6657-36DF2DBE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C50853C-ED9C-7633-AAE1-43507BAEDC71}"/>
              </a:ext>
            </a:extLst>
          </p:cNvPr>
          <p:cNvSpPr/>
          <p:nvPr/>
        </p:nvSpPr>
        <p:spPr>
          <a:xfrm>
            <a:off x="222629" y="421609"/>
            <a:ext cx="11746741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2.-Entornos virtuales: un espacio de trabajo aislado.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Un entorno es un espacio independiente con: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Versión de Python específica.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Librerías necesarias para un proyecto.</a:t>
            </a:r>
          </a:p>
          <a:p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Evita conflictos entre diferentes proyectos.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Puedes tener varios entornos para distintos trabajos.</a:t>
            </a:r>
          </a:p>
          <a:p>
            <a:pPr lvl="1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	Ejemplo:</a:t>
            </a:r>
          </a:p>
          <a:p>
            <a:pPr lvl="3"/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Proyecto A → Python 3.11 +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NumPy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1.26</a:t>
            </a:r>
          </a:p>
          <a:p>
            <a:pPr lvl="3"/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Proyecto B → Python 3.9 +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NumPy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1.20</a:t>
            </a:r>
          </a:p>
          <a:p>
            <a:pPr lvl="3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3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3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0F2F5D-435A-1998-ACDD-84754AB2D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32" t="23619" r="57387" b="24125"/>
          <a:stretch>
            <a:fillRect/>
          </a:stretch>
        </p:blipFill>
        <p:spPr>
          <a:xfrm>
            <a:off x="6723469" y="1468826"/>
            <a:ext cx="2509021" cy="29496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4695C4A-B7CF-2F1E-F63A-6B3BD2D8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54" t="22416" r="7328" b="25328"/>
          <a:stretch>
            <a:fillRect/>
          </a:stretch>
        </p:blipFill>
        <p:spPr>
          <a:xfrm>
            <a:off x="8849032" y="1408013"/>
            <a:ext cx="2814484" cy="2949677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F454D82-C88A-4FD0-0F25-207E32255B17}"/>
              </a:ext>
            </a:extLst>
          </p:cNvPr>
          <p:cNvSpPr/>
          <p:nvPr/>
        </p:nvSpPr>
        <p:spPr>
          <a:xfrm>
            <a:off x="6096000" y="4418503"/>
            <a:ext cx="5873370" cy="787678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5">
                    <a:lumMod val="50000"/>
                  </a:schemeClr>
                </a:solidFill>
              </a:rPr>
              <a:t>Cada entorno es un espacio aislado con su propia versión de Python y librerías, asociado a un proyecto específico. Esto evita conflictos entre versiones y facilita la portabilidad entre equipos</a:t>
            </a:r>
          </a:p>
        </p:txBody>
      </p:sp>
    </p:spTree>
    <p:extLst>
      <p:ext uri="{BB962C8B-B14F-4D97-AF65-F5344CB8AC3E}">
        <p14:creationId xmlns:p14="http://schemas.microsoft.com/office/powerpoint/2010/main" val="637345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9E31-E9A4-4F63-ECE1-8482D8AC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521E5A1-597D-635A-8108-FD377C51B7A4}"/>
              </a:ext>
            </a:extLst>
          </p:cNvPr>
          <p:cNvSpPr/>
          <p:nvPr/>
        </p:nvSpPr>
        <p:spPr>
          <a:xfrm>
            <a:off x="104642" y="207758"/>
            <a:ext cx="1174674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2.-Entornos virtuales: un espacio de trabajo aislado.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es-ES" b="1" dirty="0" smtClean="0">
                <a:solidFill>
                  <a:schemeClr val="accent5">
                    <a:lumMod val="50000"/>
                  </a:schemeClr>
                </a:solidFill>
              </a:rPr>
              <a:t>TEAMS: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Un archivo .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yml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permite instalar de una sola vez todas las librerías necesarias para un proyecto.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Asegura que todos tengan las mismas versiones, evitando errores por diferencias de entorno.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Facilita reproducir y compartir configuraciones entre equipos y proyectos.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Evita instalar manualmente librería por librería.</a:t>
            </a:r>
          </a:p>
          <a:p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CC67598-F41F-C09B-7A18-165B00095ACF}"/>
              </a:ext>
            </a:extLst>
          </p:cNvPr>
          <p:cNvSpPr/>
          <p:nvPr/>
        </p:nvSpPr>
        <p:spPr>
          <a:xfrm>
            <a:off x="2499851" y="730044"/>
            <a:ext cx="1865671" cy="442452"/>
          </a:xfrm>
          <a:prstGeom prst="roundRect">
            <a:avLst>
              <a:gd name="adj" fmla="val 18876"/>
            </a:avLst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accent5">
                    <a:lumMod val="50000"/>
                  </a:schemeClr>
                </a:solidFill>
              </a:rPr>
              <a:t>environment.yml</a:t>
            </a:r>
            <a:endParaRPr lang="es-E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D99E58-1150-F129-2B28-FCA46CCC5BE5}"/>
              </a:ext>
            </a:extLst>
          </p:cNvPr>
          <p:cNvSpPr txBox="1"/>
          <p:nvPr/>
        </p:nvSpPr>
        <p:spPr>
          <a:xfrm>
            <a:off x="619431" y="2750792"/>
            <a:ext cx="702760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titulo_propio-ia</a:t>
            </a: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conda-forge</a:t>
            </a: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 err="1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dependencies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=3.10        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Versión de Python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Cálculo numérico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Métodos científicos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Gráficos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pandas    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Análisis de datos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Cuadernos </a:t>
            </a:r>
            <a:r>
              <a:rPr lang="es-ES" sz="1600" dirty="0" smtClean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interactivos</a:t>
            </a:r>
          </a:p>
          <a:p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1600" dirty="0" smtClean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s-E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scikit-learn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=1.3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Machine </a:t>
            </a:r>
            <a:r>
              <a:rPr lang="es-ES" sz="16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endParaRPr lang="es-E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Instalador de paquetes Python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s-ES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tensorflow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2.14 </a:t>
            </a:r>
            <a:r>
              <a:rPr lang="es-ES" sz="16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s-ES" sz="1600" dirty="0" smtClean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Redes neuronales</a:t>
            </a:r>
            <a:endParaRPr lang="es-ES" sz="16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s-E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keras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==2.14</a:t>
            </a:r>
          </a:p>
          <a:p>
            <a:endParaRPr lang="es-ES" sz="16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EDDC67D-FAD1-5C90-85FB-DD32479B0A90}"/>
              </a:ext>
            </a:extLst>
          </p:cNvPr>
          <p:cNvSpPr/>
          <p:nvPr/>
        </p:nvSpPr>
        <p:spPr>
          <a:xfrm>
            <a:off x="449825" y="2750792"/>
            <a:ext cx="7027607" cy="3899450"/>
          </a:xfrm>
          <a:prstGeom prst="roundRect">
            <a:avLst>
              <a:gd name="adj" fmla="val 7699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A082986-2967-A21D-B74B-BBB6D0F0D98F}"/>
              </a:ext>
            </a:extLst>
          </p:cNvPr>
          <p:cNvSpPr/>
          <p:nvPr/>
        </p:nvSpPr>
        <p:spPr>
          <a:xfrm>
            <a:off x="7647038" y="2733076"/>
            <a:ext cx="4440319" cy="784023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Indica el nombre del entorno con el que lo identificaremos.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ABEA247-1AE4-F41F-631A-EE6ED5890B44}"/>
              </a:ext>
            </a:extLst>
          </p:cNvPr>
          <p:cNvSpPr/>
          <p:nvPr/>
        </p:nvSpPr>
        <p:spPr>
          <a:xfrm>
            <a:off x="7647038" y="3658152"/>
            <a:ext cx="4440319" cy="784023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channels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Indica en qué repositorios va a buscar los diferentes paquetes y librerías.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93FB016-1B34-0B00-EA68-0C88E17FC72C}"/>
              </a:ext>
            </a:extLst>
          </p:cNvPr>
          <p:cNvSpPr/>
          <p:nvPr/>
        </p:nvSpPr>
        <p:spPr>
          <a:xfrm>
            <a:off x="7647037" y="4574307"/>
            <a:ext cx="4440319" cy="1042175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dependencies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Indica los paquetes y librerías que va a instalar con sus correspondientes versiones (opcional).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497F15D-65DB-0E49-7C5B-082DA0A284AE}"/>
              </a:ext>
            </a:extLst>
          </p:cNvPr>
          <p:cNvSpPr/>
          <p:nvPr/>
        </p:nvSpPr>
        <p:spPr>
          <a:xfrm>
            <a:off x="7647037" y="5769134"/>
            <a:ext cx="4440318" cy="936361"/>
          </a:xfrm>
          <a:prstGeom prst="roundRect">
            <a:avLst>
              <a:gd name="adj" fmla="val 33876"/>
            </a:avLst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es el gestor de paquetes oficial de Python. Se usa para librerías que no están en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Conda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47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2F7B-0C7D-2858-8989-32F8B696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89265A6-38DC-82C9-DD14-C201AD00F7D7}"/>
              </a:ext>
            </a:extLst>
          </p:cNvPr>
          <p:cNvSpPr/>
          <p:nvPr/>
        </p:nvSpPr>
        <p:spPr>
          <a:xfrm>
            <a:off x="104642" y="207758"/>
            <a:ext cx="11746741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2.-Entornos virtuales: un espacio de trabajo aislado.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Crear un entorno con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desde un archivo .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yml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Descargar el archivo </a:t>
            </a:r>
            <a:r>
              <a:rPr lang="es-ES" sz="2000" dirty="0" err="1" smtClean="0">
                <a:solidFill>
                  <a:schemeClr val="accent5">
                    <a:lumMod val="50000"/>
                  </a:schemeClr>
                </a:solidFill>
              </a:rPr>
              <a:t>environment.yml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desde el repositorio 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TEAMS.</a:t>
            </a:r>
            <a:endParaRPr lang="es-E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Guardarlo en una carpeta conocida (ej. </a:t>
            </a:r>
            <a:r>
              <a:rPr lang="es-ES" sz="2000" dirty="0" err="1" smtClean="0">
                <a:solidFill>
                  <a:schemeClr val="accent5">
                    <a:lumMod val="50000"/>
                  </a:schemeClr>
                </a:solidFill>
              </a:rPr>
              <a:t>Titulo_Propio_IA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).</a:t>
            </a:r>
            <a:endParaRPr lang="es-E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Abrir Anaconda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Prompt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o Terminal.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Ir a la carpeta donde está el archivo: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2742949"/>
            <a:ext cx="80867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5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B2A9-412A-F2C1-DD5F-D86F1577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59E4483-2B2D-4BAD-4C3D-CA3D66CC340E}"/>
              </a:ext>
            </a:extLst>
          </p:cNvPr>
          <p:cNvSpPr/>
          <p:nvPr/>
        </p:nvSpPr>
        <p:spPr>
          <a:xfrm>
            <a:off x="104642" y="207758"/>
            <a:ext cx="11746741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2.-Entornos virtuales: un espacio de trabajo aislado.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Crear un entorno con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desde un archivo .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yml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Crear el entorno con: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–f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endParaRPr lang="es-ES" sz="20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95" y="1843257"/>
            <a:ext cx="8086725" cy="34671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b="59567"/>
          <a:stretch/>
        </p:blipFill>
        <p:spPr>
          <a:xfrm>
            <a:off x="1426995" y="3751472"/>
            <a:ext cx="8115300" cy="13980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t="53426"/>
          <a:stretch/>
        </p:blipFill>
        <p:spPr>
          <a:xfrm>
            <a:off x="1426995" y="5158623"/>
            <a:ext cx="8115300" cy="161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F01C-0A8F-068A-51CE-AC6C22CC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334DF15-D455-9516-1AF6-1A759BDE8D49}"/>
              </a:ext>
            </a:extLst>
          </p:cNvPr>
          <p:cNvSpPr/>
          <p:nvPr/>
        </p:nvSpPr>
        <p:spPr>
          <a:xfrm>
            <a:off x="104642" y="207758"/>
            <a:ext cx="1174674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2.-Entornos virtuales: un espacio de trabajo aislado.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Crear un entorno con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Conda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desde un archivo .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yml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Activamos el entorno: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dirty="0" err="1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titulo-propio-</a:t>
            </a:r>
            <a:r>
              <a:rPr lang="es-ES" sz="2000" dirty="0" err="1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</a:t>
            </a:r>
            <a:endParaRPr lang="es-ES" sz="2000" dirty="0" smtClean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Registramos 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el entorno con un nombre más reconocible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0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python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-m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ipykernel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install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--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user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--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name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titulo-propio-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ia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--</a:t>
            </a:r>
            <a:r>
              <a:rPr lang="es-ES" sz="2000" dirty="0" err="1">
                <a:solidFill>
                  <a:schemeClr val="accent5">
                    <a:lumMod val="50000"/>
                  </a:schemeClr>
                </a:solidFill>
              </a:rPr>
              <a:t>display-name</a:t>
            </a:r>
            <a:r>
              <a:rPr lang="es-ES" sz="2000" dirty="0">
                <a:solidFill>
                  <a:schemeClr val="accent5">
                    <a:lumMod val="50000"/>
                  </a:schemeClr>
                </a:solidFill>
              </a:rPr>
              <a:t> "Python (Titulo Propio IA)"</a:t>
            </a:r>
          </a:p>
          <a:p>
            <a:pPr lvl="2"/>
            <a:r>
              <a:rPr lang="es-ES" sz="2000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es-ES" sz="2000" b="1" dirty="0" smtClean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649" y="3105400"/>
            <a:ext cx="80867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7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197E-51FC-6924-90F2-C5EE3845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FEFB772-ABFE-4563-BA16-06C1B33588C5}"/>
              </a:ext>
            </a:extLst>
          </p:cNvPr>
          <p:cNvSpPr/>
          <p:nvPr/>
        </p:nvSpPr>
        <p:spPr>
          <a:xfrm>
            <a:off x="2807368" y="169982"/>
            <a:ext cx="7539789" cy="1168201"/>
          </a:xfrm>
          <a:prstGeom prst="roundRect">
            <a:avLst>
              <a:gd name="adj" fmla="val 1242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s-ES" b="1" dirty="0" smtClean="0">
                <a:solidFill>
                  <a:srgbClr val="002060"/>
                </a:solidFill>
              </a:rPr>
              <a:t>Descarga entorno.</a:t>
            </a:r>
            <a:endParaRPr lang="es-ES" dirty="0"/>
          </a:p>
          <a:p>
            <a:pPr marL="342900" indent="-342900" algn="ctr">
              <a:lnSpc>
                <a:spcPct val="150000"/>
              </a:lnSpc>
              <a:buAutoNum type="arabicPeriod"/>
            </a:pPr>
            <a:endParaRPr lang="es-ES" dirty="0" smtClean="0"/>
          </a:p>
        </p:txBody>
      </p:sp>
      <p:grpSp>
        <p:nvGrpSpPr>
          <p:cNvPr id="12" name="Grupo 11"/>
          <p:cNvGrpSpPr/>
          <p:nvPr/>
        </p:nvGrpSpPr>
        <p:grpSpPr>
          <a:xfrm>
            <a:off x="2807369" y="1425650"/>
            <a:ext cx="7844590" cy="2183899"/>
            <a:chOff x="4960346" y="287840"/>
            <a:chExt cx="4680770" cy="3049186"/>
          </a:xfrm>
        </p:grpSpPr>
        <p:sp>
          <p:nvSpPr>
            <p:cNvPr id="6" name="Rectángulo: esquinas redondeadas 7">
              <a:extLst>
                <a:ext uri="{FF2B5EF4-FFF2-40B4-BE49-F238E27FC236}">
                  <a16:creationId xmlns:a16="http://schemas.microsoft.com/office/drawing/2014/main" id="{8FEFB772-ABFE-4563-BA16-06C1B33588C5}"/>
                </a:ext>
              </a:extLst>
            </p:cNvPr>
            <p:cNvSpPr/>
            <p:nvPr/>
          </p:nvSpPr>
          <p:spPr>
            <a:xfrm>
              <a:off x="4960347" y="287840"/>
              <a:ext cx="4495802" cy="3049186"/>
            </a:xfrm>
            <a:prstGeom prst="roundRect">
              <a:avLst>
                <a:gd name="adj" fmla="val 12427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b="1" dirty="0" smtClean="0">
                  <a:solidFill>
                    <a:srgbClr val="002060"/>
                  </a:solidFill>
                </a:rPr>
                <a:t>2. Abrir Terminal/Anaconda </a:t>
              </a:r>
              <a:r>
                <a:rPr lang="es-ES" b="1" dirty="0" err="1" smtClean="0">
                  <a:solidFill>
                    <a:srgbClr val="002060"/>
                  </a:solidFill>
                </a:rPr>
                <a:t>Prompt</a:t>
              </a:r>
              <a:endParaRPr lang="es-ES" b="1" dirty="0" smtClean="0">
                <a:solidFill>
                  <a:srgbClr val="002060"/>
                </a:solidFill>
              </a:endParaRPr>
            </a:p>
            <a:p>
              <a:pPr algn="ctr"/>
              <a:r>
                <a:rPr lang="es-ES" dirty="0"/>
                <a:t>Ir a:</a:t>
              </a:r>
              <a:br>
                <a:rPr lang="es-ES" dirty="0"/>
              </a:br>
              <a:endParaRPr lang="es-ES" dirty="0"/>
            </a:p>
          </p:txBody>
        </p:sp>
        <p:sp>
          <p:nvSpPr>
            <p:cNvPr id="3" name="Rectángulo redondeado 2"/>
            <p:cNvSpPr/>
            <p:nvPr/>
          </p:nvSpPr>
          <p:spPr>
            <a:xfrm>
              <a:off x="4960346" y="872917"/>
              <a:ext cx="4680770" cy="23927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smtClean="0">
                  <a:solidFill>
                    <a:srgbClr val="002060"/>
                  </a:solidFill>
                </a:rPr>
                <a:t>Acceder a la carpeta.</a:t>
              </a:r>
            </a:p>
            <a:p>
              <a:r>
                <a:rPr lang="es-ES" dirty="0" smtClean="0">
                  <a:solidFill>
                    <a:srgbClr val="002060"/>
                  </a:solidFill>
                </a:rPr>
                <a:t>Comandos:</a:t>
              </a:r>
            </a:p>
            <a:p>
              <a:pPr lvl="1"/>
              <a:r>
                <a:rPr lang="es-ES" dirty="0" smtClean="0">
                  <a:solidFill>
                    <a:srgbClr val="002060"/>
                  </a:solidFill>
                </a:rPr>
                <a:t>cd   (cambia de directorio a uno inmediatamente inferior)</a:t>
              </a:r>
            </a:p>
            <a:p>
              <a:pPr lvl="1"/>
              <a:r>
                <a:rPr lang="es-ES" dirty="0">
                  <a:solidFill>
                    <a:srgbClr val="002060"/>
                  </a:solidFill>
                </a:rPr>
                <a:t>c</a:t>
              </a:r>
              <a:r>
                <a:rPr lang="es-ES" dirty="0" smtClean="0">
                  <a:solidFill>
                    <a:srgbClr val="002060"/>
                  </a:solidFill>
                </a:rPr>
                <a:t>d .. (sube de nivel de carpeta) </a:t>
              </a:r>
            </a:p>
            <a:p>
              <a:pPr lvl="1"/>
              <a:r>
                <a:rPr lang="es-ES" dirty="0" err="1" smtClean="0">
                  <a:solidFill>
                    <a:srgbClr val="002060"/>
                  </a:solidFill>
                </a:rPr>
                <a:t>dir</a:t>
              </a:r>
              <a:r>
                <a:rPr lang="es-ES" dirty="0" smtClean="0">
                  <a:solidFill>
                    <a:srgbClr val="002060"/>
                  </a:solidFill>
                </a:rPr>
                <a:t>/</a:t>
              </a:r>
              <a:r>
                <a:rPr lang="es-ES" dirty="0" err="1" smtClean="0">
                  <a:solidFill>
                    <a:srgbClr val="002060"/>
                  </a:solidFill>
                </a:rPr>
                <a:t>ls</a:t>
              </a:r>
              <a:r>
                <a:rPr lang="es-ES" dirty="0" smtClean="0">
                  <a:solidFill>
                    <a:srgbClr val="002060"/>
                  </a:solidFill>
                </a:rPr>
                <a:t> (muestra contenido de carpeta Windows/Linux)</a:t>
              </a:r>
              <a:endParaRPr lang="es-ES" dirty="0">
                <a:solidFill>
                  <a:srgbClr val="002060"/>
                </a:solidFill>
              </a:endParaRPr>
            </a:p>
          </p:txBody>
        </p:sp>
      </p:grpSp>
      <p:sp>
        <p:nvSpPr>
          <p:cNvPr id="15" name="Rectángulo redondeado 14"/>
          <p:cNvSpPr/>
          <p:nvPr/>
        </p:nvSpPr>
        <p:spPr>
          <a:xfrm>
            <a:off x="2807368" y="624529"/>
            <a:ext cx="7534602" cy="745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smtClean="0">
                <a:solidFill>
                  <a:srgbClr val="002060"/>
                </a:solidFill>
                <a:latin typeface="+mj-lt"/>
              </a:rPr>
              <a:t>Descarga </a:t>
            </a:r>
            <a:r>
              <a:rPr lang="es-ES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environment.yml</a:t>
            </a:r>
            <a:r>
              <a:rPr lang="es-ES" dirty="0" smtClean="0">
                <a:solidFill>
                  <a:srgbClr val="002060"/>
                </a:solidFill>
                <a:latin typeface="+mj-lt"/>
              </a:rPr>
              <a:t> desde </a:t>
            </a:r>
            <a:r>
              <a:rPr lang="es-ES" dirty="0" err="1" smtClean="0">
                <a:solidFill>
                  <a:srgbClr val="002060"/>
                </a:solidFill>
                <a:latin typeface="+mj-lt"/>
              </a:rPr>
              <a:t>Teams</a:t>
            </a:r>
            <a:r>
              <a:rPr lang="es-ES" dirty="0" smtClean="0">
                <a:solidFill>
                  <a:srgbClr val="002060"/>
                </a:solidFill>
                <a:latin typeface="+mj-lt"/>
              </a:rPr>
              <a:t> y guárdalo en una carpeta de fácil acceso </a:t>
            </a:r>
            <a:endParaRPr lang="es-ES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21" name="Grupo 20"/>
          <p:cNvGrpSpPr/>
          <p:nvPr/>
        </p:nvGrpSpPr>
        <p:grpSpPr>
          <a:xfrm>
            <a:off x="2807368" y="3761185"/>
            <a:ext cx="7844591" cy="810816"/>
            <a:chOff x="4960346" y="287840"/>
            <a:chExt cx="4680770" cy="3049186"/>
          </a:xfrm>
        </p:grpSpPr>
        <p:sp>
          <p:nvSpPr>
            <p:cNvPr id="22" name="Rectángulo: esquinas redondeadas 7">
              <a:extLst>
                <a:ext uri="{FF2B5EF4-FFF2-40B4-BE49-F238E27FC236}">
                  <a16:creationId xmlns:a16="http://schemas.microsoft.com/office/drawing/2014/main" id="{8FEFB772-ABFE-4563-BA16-06C1B33588C5}"/>
                </a:ext>
              </a:extLst>
            </p:cNvPr>
            <p:cNvSpPr/>
            <p:nvPr/>
          </p:nvSpPr>
          <p:spPr>
            <a:xfrm>
              <a:off x="4960347" y="287840"/>
              <a:ext cx="4495802" cy="3049186"/>
            </a:xfrm>
            <a:prstGeom prst="roundRect">
              <a:avLst>
                <a:gd name="adj" fmla="val 12427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b="1" dirty="0" smtClean="0">
                  <a:solidFill>
                    <a:srgbClr val="002060"/>
                  </a:solidFill>
                </a:rPr>
                <a:t>3. Crea el entorno</a:t>
              </a:r>
            </a:p>
            <a:p>
              <a:pPr algn="ctr"/>
              <a:r>
                <a:rPr lang="es-ES" dirty="0"/>
                <a:t>Ir a:</a:t>
              </a:r>
              <a:br>
                <a:rPr lang="es-ES" dirty="0"/>
              </a:br>
              <a:endParaRPr lang="es-ES" dirty="0"/>
            </a:p>
          </p:txBody>
        </p:sp>
        <p:sp>
          <p:nvSpPr>
            <p:cNvPr id="23" name="Rectángulo redondeado 22"/>
            <p:cNvSpPr/>
            <p:nvPr/>
          </p:nvSpPr>
          <p:spPr>
            <a:xfrm>
              <a:off x="4960346" y="1812433"/>
              <a:ext cx="4680770" cy="86056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conda</a:t>
              </a:r>
              <a:r>
                <a:rPr lang="es-ES" dirty="0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dirty="0" err="1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env</a:t>
              </a:r>
              <a:r>
                <a:rPr lang="es-ES" dirty="0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ES" dirty="0" err="1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create</a:t>
              </a:r>
              <a:r>
                <a:rPr lang="es-ES" dirty="0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–f </a:t>
              </a:r>
              <a:r>
                <a:rPr lang="es-ES" dirty="0" err="1">
                  <a:solidFill>
                    <a:schemeClr val="accent5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environment.yml</a:t>
              </a:r>
              <a:endParaRPr lang="es-ES" dirty="0">
                <a:solidFill>
                  <a:srgbClr val="002060"/>
                </a:solidFill>
              </a:endParaRPr>
            </a:p>
          </p:txBody>
        </p:sp>
      </p:grpSp>
      <p:sp>
        <p:nvSpPr>
          <p:cNvPr id="24" name="Rectángulo: esquinas redondeadas 7">
            <a:extLst>
              <a:ext uri="{FF2B5EF4-FFF2-40B4-BE49-F238E27FC236}">
                <a16:creationId xmlns:a16="http://schemas.microsoft.com/office/drawing/2014/main" id="{8FEFB772-ABFE-4563-BA16-06C1B33588C5}"/>
              </a:ext>
            </a:extLst>
          </p:cNvPr>
          <p:cNvSpPr/>
          <p:nvPr/>
        </p:nvSpPr>
        <p:spPr>
          <a:xfrm>
            <a:off x="2807368" y="4742625"/>
            <a:ext cx="7539789" cy="2083291"/>
          </a:xfrm>
          <a:prstGeom prst="roundRect">
            <a:avLst>
              <a:gd name="adj" fmla="val 12427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b="1" dirty="0">
                <a:solidFill>
                  <a:srgbClr val="002060"/>
                </a:solidFill>
              </a:rPr>
              <a:t>4</a:t>
            </a:r>
            <a:r>
              <a:rPr lang="es-ES" b="1" dirty="0" smtClean="0">
                <a:solidFill>
                  <a:srgbClr val="002060"/>
                </a:solidFill>
              </a:rPr>
              <a:t>. Activa el entorno</a:t>
            </a:r>
          </a:p>
          <a:p>
            <a:pPr algn="ctr"/>
            <a:r>
              <a:rPr lang="es-ES" dirty="0"/>
              <a:t>Ir a:</a:t>
            </a:r>
            <a:br>
              <a:rPr lang="es-ES" dirty="0"/>
            </a:b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2807368" y="5099909"/>
            <a:ext cx="611257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titulo-propio-</a:t>
            </a:r>
            <a:r>
              <a:rPr lang="es-ES" dirty="0" err="1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</a:t>
            </a:r>
            <a:endParaRPr lang="es-ES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ipykernel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lvl="1">
              <a:lnSpc>
                <a:spcPct val="150000"/>
              </a:lnSpc>
            </a:pP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titulo-propio-</a:t>
            </a:r>
            <a:r>
              <a:rPr lang="es-ES" dirty="0" err="1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ia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display-name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lvl="1">
              <a:lnSpc>
                <a:spcPct val="150000"/>
              </a:lnSpc>
            </a:pP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(Titulo Propio IA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8559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6FA79-DE73-E998-69EB-A1776782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595CB07-57BB-B809-11AE-8D02565B99C4}"/>
              </a:ext>
            </a:extLst>
          </p:cNvPr>
          <p:cNvSpPr/>
          <p:nvPr/>
        </p:nvSpPr>
        <p:spPr>
          <a:xfrm>
            <a:off x="0" y="-12242"/>
            <a:ext cx="635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(IDE*) Visual Studio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Code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con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Miniconda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0243BA2E-822B-BBE7-EDD2-DF48C5997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4" b="29320"/>
          <a:stretch>
            <a:fillRect/>
          </a:stretch>
        </p:blipFill>
        <p:spPr>
          <a:xfrm>
            <a:off x="991087" y="1290485"/>
            <a:ext cx="10080777" cy="2902376"/>
          </a:xfrm>
          <a:prstGeom prst="rect">
            <a:avLst/>
          </a:prstGeom>
        </p:spPr>
      </p:pic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1528B824-F521-9047-8C35-708B487DE532}"/>
              </a:ext>
            </a:extLst>
          </p:cNvPr>
          <p:cNvSpPr/>
          <p:nvPr/>
        </p:nvSpPr>
        <p:spPr>
          <a:xfrm rot="12998473">
            <a:off x="1823308" y="270251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E81F262-7127-2A35-6AC2-9E3D156DE9B7}"/>
              </a:ext>
            </a:extLst>
          </p:cNvPr>
          <p:cNvSpPr/>
          <p:nvPr/>
        </p:nvSpPr>
        <p:spPr>
          <a:xfrm>
            <a:off x="935781" y="3743035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</a:t>
            </a:r>
          </a:p>
        </p:txBody>
      </p:sp>
      <p:pic>
        <p:nvPicPr>
          <p:cNvPr id="10242" name="Picture 2" descr="Imágenes de Tick Verde - Descarga gratuita en Freepik">
            <a:extLst>
              <a:ext uri="{FF2B5EF4-FFF2-40B4-BE49-F238E27FC236}">
                <a16:creationId xmlns:a16="http://schemas.microsoft.com/office/drawing/2014/main" id="{E5FB4EA4-6EA1-274B-35F7-717823C4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935" y="3667275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1D74E918-2E21-891C-C99C-C939809C659F}"/>
              </a:ext>
            </a:extLst>
          </p:cNvPr>
          <p:cNvSpPr/>
          <p:nvPr/>
        </p:nvSpPr>
        <p:spPr>
          <a:xfrm rot="8674936">
            <a:off x="6755095" y="251228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8B6F3F1-1819-A919-7DA6-8C4320376F88}"/>
              </a:ext>
            </a:extLst>
          </p:cNvPr>
          <p:cNvSpPr/>
          <p:nvPr/>
        </p:nvSpPr>
        <p:spPr>
          <a:xfrm>
            <a:off x="7312170" y="3609020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2</a:t>
            </a:r>
          </a:p>
        </p:txBody>
      </p:sp>
      <p:pic>
        <p:nvPicPr>
          <p:cNvPr id="8" name="Picture 2" descr="Imágenes de Tick Verde - Descarga gratuita en Freepik">
            <a:extLst>
              <a:ext uri="{FF2B5EF4-FFF2-40B4-BE49-F238E27FC236}">
                <a16:creationId xmlns:a16="http://schemas.microsoft.com/office/drawing/2014/main" id="{6DFC4598-0FE4-EC1B-A800-5F9C49A1E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72" y="3801289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EA1BC96F-699D-DBD8-2F3B-D756E1816556}"/>
              </a:ext>
            </a:extLst>
          </p:cNvPr>
          <p:cNvSpPr/>
          <p:nvPr/>
        </p:nvSpPr>
        <p:spPr>
          <a:xfrm rot="8674936">
            <a:off x="10064789" y="2485828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E67B06D-FB3C-1FA4-A339-3037B904BC1A}"/>
              </a:ext>
            </a:extLst>
          </p:cNvPr>
          <p:cNvSpPr/>
          <p:nvPr/>
        </p:nvSpPr>
        <p:spPr>
          <a:xfrm>
            <a:off x="10621864" y="3582563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48059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D7A2-793E-9B74-0DA1-16A26213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307C314-5968-AC56-E592-D9ED67843867}"/>
              </a:ext>
            </a:extLst>
          </p:cNvPr>
          <p:cNvSpPr/>
          <p:nvPr/>
        </p:nvSpPr>
        <p:spPr>
          <a:xfrm>
            <a:off x="104642" y="207758"/>
            <a:ext cx="1174674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3.-Visual Studio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156772-A64F-676A-73E4-1DE8E7B6B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88" y="1469642"/>
            <a:ext cx="5401524" cy="34933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9B6B67-E10E-D0F8-7A10-59C54CDB45F0}"/>
              </a:ext>
            </a:extLst>
          </p:cNvPr>
          <p:cNvSpPr txBox="1"/>
          <p:nvPr/>
        </p:nvSpPr>
        <p:spPr>
          <a:xfrm>
            <a:off x="5326627" y="1705487"/>
            <a:ext cx="6865373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Editor de código multiplataforma, gratuito y de código abierto.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Desarrollado por Microsoft.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Soporta muchos lenguajes (Python, C++, JavaScript, etc.).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Altamente extensible mediante extensiones (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plugins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Puede actuar como un IDE completo para Python.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Integración con Git, depuración y terminal integrada.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2DD6D31-E072-F66B-84F7-92F63E376607}"/>
              </a:ext>
            </a:extLst>
          </p:cNvPr>
          <p:cNvSpPr/>
          <p:nvPr/>
        </p:nvSpPr>
        <p:spPr>
          <a:xfrm>
            <a:off x="537159" y="1469642"/>
            <a:ext cx="5558841" cy="3493311"/>
          </a:xfrm>
          <a:prstGeom prst="roundRect">
            <a:avLst>
              <a:gd name="adj" fmla="val 3566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8676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CCD4-EAF4-009E-A5D3-E47E6F5C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6BCDC1B-2BF7-46FB-9E2B-30D7E4566BA0}"/>
              </a:ext>
            </a:extLst>
          </p:cNvPr>
          <p:cNvSpPr/>
          <p:nvPr/>
        </p:nvSpPr>
        <p:spPr>
          <a:xfrm>
            <a:off x="104642" y="207758"/>
            <a:ext cx="1174674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3.-Visual Studio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Instalación de 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Ir a la página oficial: 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  <a:hlinkClick r:id="rId2"/>
              </a:rPr>
              <a:t>https://code.visualstudio.com/</a:t>
            </a:r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Descargar la versión para tu sistema operativo (Windows, macOS, Linux).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Ejecutar el instalador y seguir el asistente.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Opcional: marcar "Agregar a PATH" para abrir VS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desde la terminal.</a:t>
            </a: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Imagen 4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864DECBB-2D4F-18E1-28D9-5881FE73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73" t="1" r="273" b="27480"/>
          <a:stretch>
            <a:fillRect/>
          </a:stretch>
        </p:blipFill>
        <p:spPr>
          <a:xfrm>
            <a:off x="3277992" y="3695679"/>
            <a:ext cx="5400040" cy="2954563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80679B3-5BB3-5C58-32E4-B257B2168F02}"/>
              </a:ext>
            </a:extLst>
          </p:cNvPr>
          <p:cNvSpPr/>
          <p:nvPr/>
        </p:nvSpPr>
        <p:spPr>
          <a:xfrm>
            <a:off x="3222522" y="3695679"/>
            <a:ext cx="5455509" cy="2954563"/>
          </a:xfrm>
          <a:prstGeom prst="roundRect">
            <a:avLst>
              <a:gd name="adj" fmla="val 3566"/>
            </a:avLst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555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013D-5C85-038B-F099-C2FFDDCE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BDEA93D-0236-6E5C-950E-7C3334BC1144}"/>
              </a:ext>
            </a:extLst>
          </p:cNvPr>
          <p:cNvSpPr/>
          <p:nvPr/>
        </p:nvSpPr>
        <p:spPr>
          <a:xfrm>
            <a:off x="104642" y="207758"/>
            <a:ext cx="11746741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3.-Visual Studio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Instalación de 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Abrir VS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y desde la Vista de Extensiones instalar:</a:t>
            </a: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C41855-D237-A536-91D1-2A170FFE8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4" y="2035836"/>
            <a:ext cx="6975975" cy="46144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4C3A123-9845-C4C3-6C85-C1B12C4E0D1F}"/>
              </a:ext>
            </a:extLst>
          </p:cNvPr>
          <p:cNvSpPr txBox="1"/>
          <p:nvPr/>
        </p:nvSpPr>
        <p:spPr>
          <a:xfrm>
            <a:off x="7097438" y="2690336"/>
            <a:ext cx="46422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Python  – para soporte de Python.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Jupyter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– para usar notebooks .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ipynb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Pylance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– para autocompletado y análisis de </a:t>
            </a:r>
            <a:r>
              <a:rPr lang="es-ES" dirty="0" smtClean="0">
                <a:solidFill>
                  <a:schemeClr val="accent5">
                    <a:lumMod val="50000"/>
                  </a:schemeClr>
                </a:solidFill>
              </a:rPr>
              <a:t>código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E61A85-7C4F-F9C3-5CD3-E1DD84F66C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157" t="15207" r="27748" b="16436"/>
          <a:stretch>
            <a:fillRect/>
          </a:stretch>
        </p:blipFill>
        <p:spPr>
          <a:xfrm rot="20574768">
            <a:off x="782091" y="3531989"/>
            <a:ext cx="660014" cy="112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6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7DC3-CB12-645C-2209-4E0D9E371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ADD7880-148A-1128-F162-4DFB85470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5" y="2051637"/>
            <a:ext cx="6975975" cy="461440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9E025E3-1A1A-E115-A9FA-0E3A3CB80776}"/>
              </a:ext>
            </a:extLst>
          </p:cNvPr>
          <p:cNvSpPr/>
          <p:nvPr/>
        </p:nvSpPr>
        <p:spPr>
          <a:xfrm>
            <a:off x="104642" y="207758"/>
            <a:ext cx="11746741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3.-Visual Studio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Instalación de 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Abrir VS 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y desde la Vista de Extensiones instalar:</a:t>
            </a: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233AC5-AE58-B14B-E669-4CF51D1C512B}"/>
              </a:ext>
            </a:extLst>
          </p:cNvPr>
          <p:cNvSpPr txBox="1"/>
          <p:nvPr/>
        </p:nvSpPr>
        <p:spPr>
          <a:xfrm>
            <a:off x="7097438" y="2690336"/>
            <a:ext cx="46422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Python  – para soporte de Python.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Jupyter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– para usar notebooks .</a:t>
            </a: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ipynb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accent5">
                    <a:lumMod val="50000"/>
                  </a:schemeClr>
                </a:solidFill>
              </a:rPr>
              <a:t>Pylance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 – para autocompletado y análisis de código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63BD30-B8B4-6964-54F5-DB21C96866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157" t="15207" r="27748" b="16436"/>
          <a:stretch>
            <a:fillRect/>
          </a:stretch>
        </p:blipFill>
        <p:spPr>
          <a:xfrm rot="20574768">
            <a:off x="1799730" y="2388990"/>
            <a:ext cx="660014" cy="112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41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E2BBD-2BEE-5D93-FF3F-84D658A5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EC4DE49E-3CDC-02CB-41B1-15986B5FF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5" y="2051637"/>
            <a:ext cx="6975974" cy="461440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4CD1B02-B2BA-3E01-3824-AB58F1066672}"/>
              </a:ext>
            </a:extLst>
          </p:cNvPr>
          <p:cNvSpPr/>
          <p:nvPr/>
        </p:nvSpPr>
        <p:spPr>
          <a:xfrm>
            <a:off x="104642" y="207758"/>
            <a:ext cx="11746741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3.-Visual Studio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 (VS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).</a:t>
            </a: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accent5">
                    <a:lumMod val="50000"/>
                  </a:schemeClr>
                </a:solidFill>
              </a:rPr>
              <a:t>Instalación de VS </a:t>
            </a:r>
            <a:r>
              <a:rPr lang="es-ES" sz="2000" b="1" dirty="0" err="1">
                <a:solidFill>
                  <a:schemeClr val="accent5">
                    <a:lumMod val="50000"/>
                  </a:schemeClr>
                </a:solidFill>
              </a:rPr>
              <a:t>Code</a:t>
            </a:r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Cambiar preferencias de apariencia (Opcional):</a:t>
            </a: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s-ES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s-E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188A5F-4F57-149F-2465-332DE4E02F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157" t="15207" r="27748" b="16436"/>
          <a:stretch>
            <a:fillRect/>
          </a:stretch>
        </p:blipFill>
        <p:spPr>
          <a:xfrm rot="8177411">
            <a:off x="177408" y="5596764"/>
            <a:ext cx="660014" cy="112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12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E065-1437-27F9-CA27-7F0BC032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D9BFC90-961F-8800-9287-863FABF580A2}"/>
              </a:ext>
            </a:extLst>
          </p:cNvPr>
          <p:cNvSpPr/>
          <p:nvPr/>
        </p:nvSpPr>
        <p:spPr>
          <a:xfrm>
            <a:off x="0" y="-12242"/>
            <a:ext cx="635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(IDE*) Visual Studio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Code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con </a:t>
            </a:r>
            <a:r>
              <a:rPr lang="es-ES" sz="2400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Miniconda</a:t>
            </a:r>
            <a:r>
              <a:rPr lang="es-ES" sz="24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3BB102ED-6F0A-51D9-FE47-9627195A2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4" b="29320"/>
          <a:stretch>
            <a:fillRect/>
          </a:stretch>
        </p:blipFill>
        <p:spPr>
          <a:xfrm>
            <a:off x="991087" y="1290485"/>
            <a:ext cx="10080777" cy="2902376"/>
          </a:xfrm>
          <a:prstGeom prst="rect">
            <a:avLst/>
          </a:prstGeom>
        </p:spPr>
      </p:pic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D874AAB3-3DD1-F9FD-6439-B892BBCF43FE}"/>
              </a:ext>
            </a:extLst>
          </p:cNvPr>
          <p:cNvSpPr/>
          <p:nvPr/>
        </p:nvSpPr>
        <p:spPr>
          <a:xfrm rot="12998473">
            <a:off x="1823308" y="270251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7AB1F29-509E-7398-CA66-97F69E3EBDFF}"/>
              </a:ext>
            </a:extLst>
          </p:cNvPr>
          <p:cNvSpPr/>
          <p:nvPr/>
        </p:nvSpPr>
        <p:spPr>
          <a:xfrm>
            <a:off x="935781" y="3743035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1</a:t>
            </a:r>
          </a:p>
        </p:txBody>
      </p:sp>
      <p:pic>
        <p:nvPicPr>
          <p:cNvPr id="10242" name="Picture 2" descr="Imágenes de Tick Verde - Descarga gratuita en Freepik">
            <a:extLst>
              <a:ext uri="{FF2B5EF4-FFF2-40B4-BE49-F238E27FC236}">
                <a16:creationId xmlns:a16="http://schemas.microsoft.com/office/drawing/2014/main" id="{6700C188-CE94-E86D-DEDB-80B394C79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935" y="3667275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24B5A4E5-166A-DB78-D7F4-2EBFC300BC4D}"/>
              </a:ext>
            </a:extLst>
          </p:cNvPr>
          <p:cNvSpPr/>
          <p:nvPr/>
        </p:nvSpPr>
        <p:spPr>
          <a:xfrm rot="8674936">
            <a:off x="6755095" y="251228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F325DD9-1757-5C7D-FE61-E819B9841551}"/>
              </a:ext>
            </a:extLst>
          </p:cNvPr>
          <p:cNvSpPr/>
          <p:nvPr/>
        </p:nvSpPr>
        <p:spPr>
          <a:xfrm>
            <a:off x="7312170" y="3609020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2</a:t>
            </a:r>
          </a:p>
        </p:txBody>
      </p:sp>
      <p:pic>
        <p:nvPicPr>
          <p:cNvPr id="8" name="Picture 2" descr="Imágenes de Tick Verde - Descarga gratuita en Freepik">
            <a:extLst>
              <a:ext uri="{FF2B5EF4-FFF2-40B4-BE49-F238E27FC236}">
                <a16:creationId xmlns:a16="http://schemas.microsoft.com/office/drawing/2014/main" id="{FB21FDB0-3BF1-BA71-0727-8DDB65F2B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522" y="3833571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1884B7A3-26C6-4901-5D6C-71DC1B1BB389}"/>
              </a:ext>
            </a:extLst>
          </p:cNvPr>
          <p:cNvSpPr/>
          <p:nvPr/>
        </p:nvSpPr>
        <p:spPr>
          <a:xfrm rot="8674936">
            <a:off x="10064789" y="2485828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DF6C6E9-596D-3CEC-2E03-8C656993760F}"/>
              </a:ext>
            </a:extLst>
          </p:cNvPr>
          <p:cNvSpPr/>
          <p:nvPr/>
        </p:nvSpPr>
        <p:spPr>
          <a:xfrm>
            <a:off x="10621864" y="3582563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3</a:t>
            </a:r>
          </a:p>
        </p:txBody>
      </p:sp>
      <p:pic>
        <p:nvPicPr>
          <p:cNvPr id="12" name="Picture 2" descr="Imágenes de Tick Verde - Descarga gratuita en Freepik">
            <a:extLst>
              <a:ext uri="{FF2B5EF4-FFF2-40B4-BE49-F238E27FC236}">
                <a16:creationId xmlns:a16="http://schemas.microsoft.com/office/drawing/2014/main" id="{C42AB1E5-38A5-B63A-883C-7BEFC1E8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05" y="4058845"/>
            <a:ext cx="1682795" cy="16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9C50F104-8463-9E18-64DC-15C46657FD80}"/>
              </a:ext>
            </a:extLst>
          </p:cNvPr>
          <p:cNvSpPr/>
          <p:nvPr/>
        </p:nvSpPr>
        <p:spPr>
          <a:xfrm rot="13216362">
            <a:off x="4587781" y="4093485"/>
            <a:ext cx="533595" cy="1162969"/>
          </a:xfrm>
          <a:prstGeom prst="downArrow">
            <a:avLst>
              <a:gd name="adj1" fmla="val 45757"/>
              <a:gd name="adj2" fmla="val 616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F5B958D-D912-7048-E166-B460FB652554}"/>
              </a:ext>
            </a:extLst>
          </p:cNvPr>
          <p:cNvSpPr/>
          <p:nvPr/>
        </p:nvSpPr>
        <p:spPr>
          <a:xfrm>
            <a:off x="3646906" y="5291094"/>
            <a:ext cx="900000" cy="8996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1875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1344</Words>
  <Application>Microsoft Office PowerPoint</Application>
  <PresentationFormat>Panorámica</PresentationFormat>
  <Paragraphs>236</Paragraphs>
  <Slides>27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Arial</vt:lpstr>
      <vt:lpstr>Arial Rounded MT Bold</vt:lpstr>
      <vt:lpstr>Calibri</vt:lpstr>
      <vt:lpstr>Calibri Light</vt:lpstr>
      <vt:lpstr>Consolas</vt:lpstr>
      <vt:lpstr>Courier New</vt:lpstr>
      <vt:lpstr>Verdana</vt:lpstr>
      <vt:lpstr>Wingdings</vt:lpstr>
      <vt:lpstr>Tema de Office</vt:lpstr>
      <vt:lpstr>Instalación  Herramientas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Javier_PC</dc:creator>
  <cp:lastModifiedBy>Javier_PC</cp:lastModifiedBy>
  <cp:revision>11</cp:revision>
  <dcterms:created xsi:type="dcterms:W3CDTF">2025-09-01T14:50:41Z</dcterms:created>
  <dcterms:modified xsi:type="dcterms:W3CDTF">2026-02-10T14:26:49Z</dcterms:modified>
</cp:coreProperties>
</file>